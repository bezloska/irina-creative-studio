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8" r:id="rId5"/>
    <p:sldId id="265" r:id="rId6"/>
    <p:sldId id="266" r:id="rId7"/>
    <p:sldId id="268" r:id="rId8"/>
    <p:sldId id="269" r:id="rId9"/>
    <p:sldId id="267" r:id="rId10"/>
    <p:sldId id="270" r:id="rId11"/>
    <p:sldId id="264" r:id="rId12"/>
    <p:sldId id="262" r:id="rId13"/>
    <p:sldId id="271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89F3-EFDB-4CBB-9732-A25D0FB04CF7}" type="datetimeFigureOut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AAF9-C587-449D-AF7E-E81EECB43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914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89F3-EFDB-4CBB-9732-A25D0FB04CF7}" type="datetimeFigureOut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AAF9-C587-449D-AF7E-E81EECB43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15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89F3-EFDB-4CBB-9732-A25D0FB04CF7}" type="datetimeFigureOut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AAF9-C587-449D-AF7E-E81EECB43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23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89F3-EFDB-4CBB-9732-A25D0FB04CF7}" type="datetimeFigureOut">
              <a:rPr lang="ru-RU" smtClean="0"/>
              <a:t>26.12.2024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AAF9-C587-449D-AF7E-E81EECB43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37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89F3-EFDB-4CBB-9732-A25D0FB04CF7}" type="datetimeFigureOut">
              <a:rPr lang="ru-RU" smtClean="0"/>
              <a:t>26.12.2024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AAF9-C587-449D-AF7E-E81EECB43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838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89F3-EFDB-4CBB-9732-A25D0FB04CF7}" type="datetimeFigureOut">
              <a:rPr lang="ru-RU" smtClean="0"/>
              <a:t>26.12.2024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AAF9-C587-449D-AF7E-E81EECB43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140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89F3-EFDB-4CBB-9732-A25D0FB04CF7}" type="datetimeFigureOut">
              <a:rPr lang="ru-RU" smtClean="0"/>
              <a:t>26.12.2024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AAF9-C587-449D-AF7E-E81EECB43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727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89F3-EFDB-4CBB-9732-A25D0FB04CF7}" type="datetimeFigureOut">
              <a:rPr lang="ru-RU" smtClean="0"/>
              <a:t>26.12.2024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AAF9-C587-449D-AF7E-E81EECB43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18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89F3-EFDB-4CBB-9732-A25D0FB04CF7}" type="datetimeFigureOut">
              <a:rPr lang="ru-RU" smtClean="0"/>
              <a:t>26.12.2024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AAF9-C587-449D-AF7E-E81EECB43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736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89F3-EFDB-4CBB-9732-A25D0FB04CF7}" type="datetimeFigureOut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AAF9-C587-449D-AF7E-E81EECB43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68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89F3-EFDB-4CBB-9732-A25D0FB04CF7}" type="datetimeFigureOut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AAF9-C587-449D-AF7E-E81EECB43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33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489F3-EFDB-4CBB-9732-A25D0FB04CF7}" type="datetimeFigureOut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2AAF9-C587-449D-AF7E-E81EECB43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540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png"/><Relationship Id="rId3" Type="http://schemas.openxmlformats.org/officeDocument/2006/relationships/image" Target="../media/image2.jpeg"/><Relationship Id="rId21" Type="http://schemas.openxmlformats.org/officeDocument/2006/relationships/image" Target="../media/image20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png"/><Relationship Id="rId2" Type="http://schemas.openxmlformats.org/officeDocument/2006/relationships/image" Target="../media/image1.jpg"/><Relationship Id="rId16" Type="http://schemas.openxmlformats.org/officeDocument/2006/relationships/image" Target="../media/image15.jpe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23" Type="http://schemas.openxmlformats.org/officeDocument/2006/relationships/image" Target="../media/image22.png"/><Relationship Id="rId10" Type="http://schemas.openxmlformats.org/officeDocument/2006/relationships/image" Target="../media/image9.jpeg"/><Relationship Id="rId19" Type="http://schemas.openxmlformats.org/officeDocument/2006/relationships/image" Target="../media/image18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13" Type="http://schemas.openxmlformats.org/officeDocument/2006/relationships/image" Target="../media/image34.pn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12" Type="http://schemas.openxmlformats.org/officeDocument/2006/relationships/image" Target="../media/image33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g"/><Relationship Id="rId11" Type="http://schemas.openxmlformats.org/officeDocument/2006/relationships/image" Target="../media/image32.png"/><Relationship Id="rId5" Type="http://schemas.openxmlformats.org/officeDocument/2006/relationships/image" Target="../media/image26.jp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jp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g"/><Relationship Id="rId3" Type="http://schemas.openxmlformats.org/officeDocument/2006/relationships/image" Target="../media/image38.jpg"/><Relationship Id="rId7" Type="http://schemas.openxmlformats.org/officeDocument/2006/relationships/image" Target="../media/image42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jpg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g"/><Relationship Id="rId3" Type="http://schemas.openxmlformats.org/officeDocument/2006/relationships/image" Target="../media/image45.jpg"/><Relationship Id="rId7" Type="http://schemas.openxmlformats.org/officeDocument/2006/relationships/image" Target="../media/image49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jpg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789" y="1"/>
            <a:ext cx="9699711" cy="685799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0832" y="2196618"/>
            <a:ext cx="1254950" cy="43513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025" y="2718608"/>
            <a:ext cx="1271451" cy="43893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842" y="823471"/>
            <a:ext cx="807720" cy="80772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316" y="0"/>
            <a:ext cx="750570" cy="75057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589" y="3257810"/>
            <a:ext cx="1260069" cy="43462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017" y="79562"/>
            <a:ext cx="1212929" cy="42056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025" y="1118415"/>
            <a:ext cx="1276885" cy="441519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025" y="1664822"/>
            <a:ext cx="1246143" cy="43204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076" y="587794"/>
            <a:ext cx="1242988" cy="43099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609" y="1687755"/>
            <a:ext cx="917392" cy="917392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316" y="2718608"/>
            <a:ext cx="917392" cy="917392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614" y="3809553"/>
            <a:ext cx="839948" cy="839948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700" y="4757910"/>
            <a:ext cx="894862" cy="894862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609" y="5761181"/>
            <a:ext cx="880381" cy="88038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951" y="4009482"/>
            <a:ext cx="809899" cy="809899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017" y="3583835"/>
            <a:ext cx="818690" cy="818690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025" y="5761181"/>
            <a:ext cx="818690" cy="818690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020" y="4390574"/>
            <a:ext cx="814767" cy="81476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10" y="5440004"/>
            <a:ext cx="790909" cy="790909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5702"/>
            <a:ext cx="829757" cy="829757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47" y="6034024"/>
            <a:ext cx="796311" cy="79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38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609822" y="247612"/>
            <a:ext cx="883575" cy="5222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28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Ім</a:t>
            </a:r>
            <a:r>
              <a:rPr lang="en-US" sz="2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</a:t>
            </a:r>
            <a:r>
              <a:rPr lang="uk-UA" sz="2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</a:t>
            </a:r>
          </a:p>
        </p:txBody>
      </p:sp>
    </p:spTree>
    <p:extLst>
      <p:ext uri="{BB962C8B-B14F-4D97-AF65-F5344CB8AC3E}">
        <p14:creationId xmlns:p14="http://schemas.microsoft.com/office/powerpoint/2010/main" val="3260143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627239" y="221486"/>
            <a:ext cx="883575" cy="5222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28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Ім</a:t>
            </a:r>
            <a:r>
              <a:rPr lang="en-US" sz="2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</a:t>
            </a:r>
            <a:r>
              <a:rPr lang="uk-UA" sz="2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</a:t>
            </a:r>
          </a:p>
        </p:txBody>
      </p:sp>
    </p:spTree>
    <p:extLst>
      <p:ext uri="{BB962C8B-B14F-4D97-AF65-F5344CB8AC3E}">
        <p14:creationId xmlns:p14="http://schemas.microsoft.com/office/powerpoint/2010/main" val="2064749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42902" y="78378"/>
            <a:ext cx="9257211" cy="4913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32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uk-UA" sz="3200" b="1" dirty="0" smtClean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равила на протязі онлайн гри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000" dirty="0" smtClean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6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uk-UA" sz="16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Конфедиційність</a:t>
            </a:r>
            <a:r>
              <a:rPr lang="uk-UA" sz="16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1600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uk-UA" sz="16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Немає правильних та неправильних відповідей.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uk-UA" sz="16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Немає оцінки слів та розповідей. </a:t>
            </a:r>
            <a:endParaRPr lang="ru-RU" sz="1600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uk-UA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Мова спілкування - будь-яка.</a:t>
            </a:r>
            <a:endParaRPr lang="uk-UA" sz="1600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uk-UA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Тривалість гри 1-1,5 години. Пам'ятаємо </a:t>
            </a:r>
            <a:r>
              <a:rPr lang="uk-U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 </a:t>
            </a:r>
            <a:r>
              <a:rPr lang="uk-UA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тайминг, не затягуємо гру.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Стоп слово.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600" b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uk-UA" sz="16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Працюємо з картами в закриту</a:t>
            </a:r>
            <a:r>
              <a:rPr lang="uk-U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uk-UA" sz="1600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uk-UA" sz="16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Карта - територія клієнта.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uk-U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Карту можна замінити.</a:t>
            </a:r>
            <a:endParaRPr lang="ru-RU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Можна не працювати з картою, яку витягнув. Можна зробити це без пояснень.</a:t>
            </a:r>
            <a:endParaRPr lang="ru-RU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12818" y="1083634"/>
            <a:ext cx="1278555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20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Загальні:</a:t>
            </a:r>
            <a:endParaRPr lang="ru-RU" sz="2000" dirty="0" smtClean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45573" y="4061965"/>
            <a:ext cx="813043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МАК:</a:t>
            </a:r>
            <a:endParaRPr lang="ru-RU" b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982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66354" y="346230"/>
            <a:ext cx="1103376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b="1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3. хід </a:t>
            </a:r>
            <a:r>
              <a:rPr lang="uk-UA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гри</a:t>
            </a:r>
            <a:endParaRPr lang="ru-RU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Гравець виконує </a:t>
            </a:r>
            <a:r>
              <a:rPr lang="uk-UA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дії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, за кольором, що розшифровані нижче:</a:t>
            </a:r>
            <a:endParaRPr lang="ru-RU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uk-UA" b="1" kern="0" dirty="0" smtClean="0">
                <a:solidFill>
                  <a:schemeClr val="accent4"/>
                </a:solidFill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Золотий </a:t>
            </a:r>
            <a:r>
              <a:rPr lang="uk-UA" b="1" kern="0" dirty="0">
                <a:solidFill>
                  <a:schemeClr val="accent4"/>
                </a:solidFill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клубок  </a:t>
            </a:r>
            <a:r>
              <a:rPr lang="uk-UA" b="1" kern="0" dirty="0" smtClean="0">
                <a:solidFill>
                  <a:schemeClr val="accent4"/>
                </a:solidFill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1, 10, 17, 24, 28 кроки)</a:t>
            </a:r>
            <a:endParaRPr lang="ru-RU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Позначає </a:t>
            </a:r>
            <a:r>
              <a:rPr lang="uk-UA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ресурс/мотивацію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до дії. Гравець бере у закриту карту золотого ресурсу і відповідає на питання:</a:t>
            </a:r>
            <a:endParaRPr lang="ru-RU" dirty="0"/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Що це за ресурс для вас?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Чого не вистачає або що дає цей ресурс? 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Як це вас мотивує рухатись вперед?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Кожна відповідь на питання має бути </a:t>
            </a:r>
            <a:r>
              <a:rPr lang="uk-UA" kern="0" dirty="0" err="1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пов</a:t>
            </a:r>
            <a:r>
              <a:rPr lang="en-US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uk-UA" kern="0" dirty="0" err="1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язана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з початковим запитом учасника гри. Якщо він уходить в сторонню тему, ведучий нагадує запит і повертає до конкретного питання!</a:t>
            </a:r>
            <a:endParaRPr lang="ru-RU" dirty="0">
              <a:effectLst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801187" y="1236616"/>
            <a:ext cx="348341" cy="36140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19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23108" y="427033"/>
            <a:ext cx="1009323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sz="3600" kern="0" dirty="0" smtClean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⚫️ </a:t>
            </a: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Чорний клубок </a:t>
            </a:r>
            <a:r>
              <a:rPr lang="uk-UA" b="1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2, 6, 12, 19, 26, 30 кроки)</a:t>
            </a:r>
            <a:endParaRPr lang="ru-RU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Цей клубок символізує </a:t>
            </a:r>
            <a:r>
              <a:rPr lang="uk-UA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тіньові,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витіснені сторони особистості, які можуть приховувати внутрішню силу.</a:t>
            </a:r>
            <a:endParaRPr lang="ru-RU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Гравець витягує у закриту напівпрозорі карту з тіньової колоди з чорними силуетами.</a:t>
            </a:r>
            <a:endParaRPr lang="ru-RU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І далі відповідає на питання</a:t>
            </a: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ru-RU" dirty="0"/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uk-UA" i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Чого ти в собі не бачиш?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uk-UA" i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Що витісняєш?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uk-UA" i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Що приймаєш в собі?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uk-UA" i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Що хочеш?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uk-UA" i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Чого, можливо, боїшся? 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03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92183" y="266596"/>
            <a:ext cx="1086829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sz="3600" kern="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⚪️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uk-UA" b="1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Білий </a:t>
            </a:r>
            <a:r>
              <a:rPr lang="uk-UA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клубок </a:t>
            </a:r>
            <a:r>
              <a:rPr lang="uk-UA" b="1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3, 15, 27 </a:t>
            </a: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кроки).   Цей 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крок означає </a:t>
            </a:r>
            <a:r>
              <a:rPr lang="uk-UA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«Щасливу зустріч»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uk-UA" kern="0" dirty="0" smtClean="0">
              <a:latin typeface="Lato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uk-UA" b="1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uk-UA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індивідуальній грі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гравця можна поставити у ситуацію вибору 1 або 2. </a:t>
            </a:r>
          </a:p>
          <a:p>
            <a:pPr>
              <a:lnSpc>
                <a:spcPct val="150000"/>
              </a:lnSpc>
            </a:pP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1.) Гравець 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один раз, ставши на білий клубок, може попросити поради у ведучого, тоді ведучий гри витягує у закриту 1 карту нового персонажа і від його ролі формулює своє послання.</a:t>
            </a:r>
            <a:endParaRPr lang="ru-RU" kern="0" dirty="0">
              <a:latin typeface="Lato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2.) Учасник 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витягує у закриту будь-яку карту іншого персонажа з казкової колоди, описує її та відповідає на питання:</a:t>
            </a:r>
            <a:endParaRPr lang="ru-RU" dirty="0"/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uk-UA" i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Яку б пораду надав цей персонаж вашому герою при розв'язуванні вашої ситуації, вашого запиту? 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uk-UA" i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Що б зробив персонаж якого ви витягли для вирішення вашого </a:t>
            </a:r>
            <a:r>
              <a:rPr lang="uk-UA" i="1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запиту?</a:t>
            </a: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600" kern="1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uk-UA" b="1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В груповій грі. </a:t>
            </a: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Якщо два гравця (або більше) в процесі гри десь стали на </a:t>
            </a:r>
            <a:r>
              <a:rPr lang="uk-UA" b="1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один і той же клубочок будь-якого кольору разом </a:t>
            </a: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вони можуть обмінятися порадами (як вирішити запит кожного) від ролі своїх персонажів у грі, але одна пара обмінюється порадами лише раз при першій зустрічі.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137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8046" y="87086"/>
            <a:ext cx="1182624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sz="1400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400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          Зелений </a:t>
            </a: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клубок</a:t>
            </a:r>
            <a:endParaRPr lang="ru-RU" sz="1400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Позначає </a:t>
            </a:r>
            <a:r>
              <a:rPr lang="uk-UA" sz="1400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Взаємодію</a:t>
            </a: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з іншими і є 3-х видів:</a:t>
            </a:r>
            <a:endParaRPr lang="ru-RU" sz="1400" dirty="0"/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uk-UA" sz="1400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Взяти</a:t>
            </a: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(5 крок) </a:t>
            </a:r>
            <a:endParaRPr lang="ru-RU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0"/>
              </a:spcAft>
            </a:pP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Гравець має взяти картку «ресурсу» у когось з інших учасників гри. «Ресурсом» в даному випадку вважаються золоті і тіньові карти, а також карти чарівних предметів, які можна дістати в замках.</a:t>
            </a:r>
            <a:endParaRPr lang="ru-RU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uk-UA" sz="1400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Обміняти</a:t>
            </a: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(11, 29 кроки) </a:t>
            </a:r>
            <a:endParaRPr lang="ru-RU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0"/>
              </a:spcAft>
            </a:pP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Учасник повинен обміняти картку будь-якого свого «ресурсу» на будь-який інший потрібний «ресурс» з іншим персонажем.</a:t>
            </a:r>
            <a:endParaRPr lang="ru-RU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uk-UA" sz="1400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Віддати</a:t>
            </a: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(21 крок) </a:t>
            </a:r>
            <a:endParaRPr lang="ru-RU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0"/>
              </a:spcAft>
            </a:pP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Гравець віддає якийсь свій «ресурс» іншому гравцю на свій розсуд, відслідковуючи свої почуття при «розставанні» з власною </a:t>
            </a:r>
            <a:r>
              <a:rPr lang="uk-UA" sz="1400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карткою.  Той </a:t>
            </a: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учасник гри, що отримав дар, аналізує нову карту і записує собі в бланк.</a:t>
            </a:r>
            <a:endParaRPr lang="ru-RU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sz="1400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Питання при будь-якій Взаємодії:</a:t>
            </a:r>
            <a:endParaRPr lang="ru-RU" sz="14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uk-UA" sz="1400" i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Як Це змінить вашу </a:t>
            </a:r>
            <a:r>
              <a:rPr lang="uk-UA" sz="1400" i="1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ситуацію? Як </a:t>
            </a:r>
            <a:r>
              <a:rPr lang="uk-UA" sz="1400" i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цей ресурс вплине на зміну </a:t>
            </a:r>
            <a:r>
              <a:rPr lang="uk-UA" sz="1400" i="1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ситуації?  Що </a:t>
            </a:r>
            <a:r>
              <a:rPr lang="uk-UA" sz="1400" i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нового ви отримуєте з цим ресурсом? </a:t>
            </a:r>
            <a:endParaRPr lang="ru-RU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Коли гравець виконав дію віддавання він має право зробити ще 1 </a:t>
            </a:r>
            <a:r>
              <a:rPr lang="uk-UA" sz="1400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додатковий хід</a:t>
            </a: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, починаючи з кидка кубику.</a:t>
            </a:r>
            <a:endParaRPr lang="ru-RU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sz="1400" b="1" i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! При індивідуальній грі:</a:t>
            </a:r>
            <a:endParaRPr lang="ru-RU" sz="1400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На кроці </a:t>
            </a:r>
            <a:r>
              <a:rPr lang="uk-UA" sz="1400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Взяти</a:t>
            </a: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ведучий розкладає з золотої чи тіньової колоди у відкриту 3 карти (ринок «ресурсів») і гравець вибирає з них.</a:t>
            </a:r>
            <a:endParaRPr lang="ru-RU" sz="1400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На кроці </a:t>
            </a:r>
            <a:r>
              <a:rPr lang="uk-UA" sz="1400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Обміняти</a:t>
            </a: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гравець вибирає який свій «ресурс» віддати ведучому і так само вибирає собі з відкритого ринку 3 «ресурсів» або золотих або тіньових карток на свій розсуд.</a:t>
            </a:r>
            <a:endParaRPr lang="ru-RU" sz="1400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На кроці </a:t>
            </a:r>
            <a:r>
              <a:rPr lang="uk-UA" sz="1400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Віддати</a:t>
            </a:r>
            <a:r>
              <a:rPr lang="uk-UA" sz="1400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просто віддає свою будь-яку карту «ресурсу» ведучому і також відслідковує свої почуття.</a:t>
            </a:r>
            <a:endParaRPr lang="ru-RU" sz="1400" dirty="0">
              <a:effectLst/>
            </a:endParaRPr>
          </a:p>
        </p:txBody>
      </p:sp>
      <p:sp>
        <p:nvSpPr>
          <p:cNvPr id="3" name="Овал 2"/>
          <p:cNvSpPr/>
          <p:nvPr/>
        </p:nvSpPr>
        <p:spPr>
          <a:xfrm>
            <a:off x="287381" y="111034"/>
            <a:ext cx="348341" cy="36140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720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942011" y="639721"/>
            <a:ext cx="802059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Фіолетовий 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клубок (8, 14, 22 кроки)</a:t>
            </a:r>
            <a:endParaRPr lang="ru-RU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Цей клубочок зображає </a:t>
            </a:r>
            <a:r>
              <a:rPr lang="uk-UA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лавку підказок.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uk-UA" kern="0" dirty="0" smtClean="0">
              <a:latin typeface="Lato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Тут 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ви можете взяти тіньову підказку від колоди ландшафтів. </a:t>
            </a:r>
            <a:endParaRPr lang="uk-UA" kern="0" dirty="0" smtClean="0">
              <a:latin typeface="Lato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ru-RU" dirty="0"/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uk-UA" i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Про що говорить вам ця фраза? Чи відгукується головна ідея?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uk-UA" i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Як ця підказка стосується вашого запиту і ситуації в цілому?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Овал 2"/>
          <p:cNvSpPr/>
          <p:nvPr/>
        </p:nvSpPr>
        <p:spPr>
          <a:xfrm>
            <a:off x="1158239" y="770350"/>
            <a:ext cx="348341" cy="36140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314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70559" y="430889"/>
            <a:ext cx="1112955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            Червоний 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клубок (7, 13, 18, 23, 28, 29 кроки</a:t>
            </a: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ru-RU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На цьому кроці герої зіштовхуються з</a:t>
            </a:r>
            <a:r>
              <a:rPr lang="uk-UA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Випробуванням 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на своєму шляху.</a:t>
            </a:r>
            <a:endParaRPr lang="ru-RU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Адже кожна подорож, навіть казкова, не обходиться без викликів і перешкод. </a:t>
            </a:r>
            <a:endParaRPr lang="uk-UA" kern="0" dirty="0" smtClean="0">
              <a:latin typeface="Lato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uk-UA" b="1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"Казковій Подорожі"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 перешкоди </a:t>
            </a: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це не просто випробування, це ніби внутрішні дзеркала, що відображають страхи, сумніви, і водночас вказують на ті шляхи, які можуть привести до нових горизонтів. Кожна перешкода </a:t>
            </a: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це шанс зустрітися з собою та отримати важливі </a:t>
            </a:r>
            <a:r>
              <a:rPr lang="uk-UA" kern="0" dirty="0" err="1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інсайти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. І далі ми детальніше розглянемо, що чекає учасників на цьому шляху.</a:t>
            </a:r>
            <a:endParaRPr lang="ru-RU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Гравці беруть відповідну карту випробування, як на позначці клубочка і проходять тест на міцність, даючи правдиві відповіді на непрості питання.</a:t>
            </a:r>
            <a:endParaRPr lang="ru-RU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uk-UA" kern="0" dirty="0" smtClean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! За </a:t>
            </a:r>
            <a:r>
              <a:rPr lang="uk-UA" kern="0" dirty="0">
                <a:latin typeface="Lato Medium"/>
                <a:ea typeface="Times New Roman" panose="02020603050405020304" pitchFamily="18" charset="0"/>
                <a:cs typeface="Times New Roman" panose="02020603050405020304" pitchFamily="18" charset="0"/>
              </a:rPr>
              <a:t>кожне пройдене випробування (коли знайдені всі щирі відповіді на питання з карти та можливо додаткові питання ведучого) учасник отримує у закриту 1 карту золотого ресурсу з колоди «Подорож Тіней» для самостійного аналізу.</a:t>
            </a:r>
            <a:endParaRPr lang="ru-RU" dirty="0">
              <a:effectLst/>
            </a:endParaRPr>
          </a:p>
        </p:txBody>
      </p:sp>
      <p:sp>
        <p:nvSpPr>
          <p:cNvPr id="3" name="Овал 2"/>
          <p:cNvSpPr/>
          <p:nvPr/>
        </p:nvSpPr>
        <p:spPr>
          <a:xfrm>
            <a:off x="892628" y="525416"/>
            <a:ext cx="348341" cy="361405"/>
          </a:xfrm>
          <a:prstGeom prst="ellipse">
            <a:avLst/>
          </a:prstGeom>
          <a:solidFill>
            <a:srgbClr val="EE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6018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35" y="0"/>
            <a:ext cx="2449620" cy="363581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052" y="8438"/>
            <a:ext cx="2397360" cy="360423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751" y="8438"/>
            <a:ext cx="2453478" cy="363581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424" y="8438"/>
            <a:ext cx="2474069" cy="366095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900" y="3274420"/>
            <a:ext cx="2363500" cy="351603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287" y="3274420"/>
            <a:ext cx="2368481" cy="352331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528" y="3074125"/>
            <a:ext cx="2413526" cy="359298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943" y="3346294"/>
            <a:ext cx="1519808" cy="151980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600" y="724008"/>
            <a:ext cx="1584963" cy="158496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4349" y="4375769"/>
            <a:ext cx="1584963" cy="158496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200" y="4239957"/>
            <a:ext cx="1584963" cy="1584963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9887" y="3346294"/>
            <a:ext cx="1584963" cy="1584963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764" y="5373574"/>
            <a:ext cx="1584963" cy="1584963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200" y="5360318"/>
            <a:ext cx="1584963" cy="158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6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68" y="-58915"/>
            <a:ext cx="2579127" cy="380564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02" y="-105790"/>
            <a:ext cx="2583402" cy="384303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373" y="-66488"/>
            <a:ext cx="2555741" cy="385095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583" y="-58915"/>
            <a:ext cx="2654092" cy="393660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528" y="3062878"/>
            <a:ext cx="2511197" cy="3763948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194" y="3081222"/>
            <a:ext cx="2472662" cy="3745604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440" y="3081222"/>
            <a:ext cx="2499005" cy="377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95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69" y="0"/>
            <a:ext cx="2473891" cy="371921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544" y="-1"/>
            <a:ext cx="2451553" cy="371921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921" y="0"/>
            <a:ext cx="2479475" cy="371921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220" y="0"/>
            <a:ext cx="2459340" cy="371968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527" y="2966720"/>
            <a:ext cx="2315109" cy="352552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739" y="3027941"/>
            <a:ext cx="2276687" cy="346429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828" y="3027941"/>
            <a:ext cx="2304960" cy="348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652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724</Words>
  <Application>Microsoft Office PowerPoint</Application>
  <PresentationFormat>Широкоэкранный</PresentationFormat>
  <Paragraphs>73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Lato Medium</vt:lpstr>
      <vt:lpstr>Segoe UI Emoji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Lena</dc:creator>
  <cp:lastModifiedBy>Lena</cp:lastModifiedBy>
  <cp:revision>45</cp:revision>
  <dcterms:created xsi:type="dcterms:W3CDTF">2024-11-10T18:35:44Z</dcterms:created>
  <dcterms:modified xsi:type="dcterms:W3CDTF">2024-12-26T17:42:38Z</dcterms:modified>
</cp:coreProperties>
</file>